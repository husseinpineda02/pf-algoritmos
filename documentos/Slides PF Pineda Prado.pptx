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embeddedFontLst>
    <p:embeddedFont>
      <p:font typeface="Roboto" panose="02000000000000000000" pitchFamily="2" charset="0"/>
      <p:regular r:id="rId26"/>
    </p:embeddedFont>
    <p:embeddedFont>
      <p:font typeface="Roboto Bold" panose="02000000000000000000" charset="0"/>
      <p:regular r:id="rId27"/>
    </p:embeddedFont>
    <p:embeddedFont>
      <p:font typeface="Roboto Mono Bold" panose="020B0604020202020204" charset="0"/>
      <p:regular r:id="rId28"/>
    </p:embeddedFont>
    <p:embeddedFont>
      <p:font typeface="Roboto Mono Medium" panose="00000009000000000000" pitchFamily="49" charset="0"/>
      <p:regular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081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openxmlformats.org/officeDocument/2006/relationships/image" Target="../media/image3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eg"/><Relationship Id="rId4" Type="http://schemas.openxmlformats.org/officeDocument/2006/relationships/image" Target="../media/image3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eg"/><Relationship Id="rId4" Type="http://schemas.openxmlformats.org/officeDocument/2006/relationships/image" Target="../media/image4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eg"/><Relationship Id="rId4" Type="http://schemas.openxmlformats.org/officeDocument/2006/relationships/image" Target="../media/image45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53988"/>
            <a:ext cx="3073522" cy="287139"/>
          </a:xfrm>
          <a:prstGeom prst="roundRect">
            <a:avLst>
              <a:gd name="adj" fmla="val 7899"/>
            </a:avLst>
          </a:prstGeom>
          <a:solidFill>
            <a:srgbClr val="3D4D00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010642"/>
            <a:ext cx="345629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ALGORITMOS Y ESTRUCTURAS DE DATOS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1673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Sistema de Búsquedas y Estadísticas de Investigadores CONCYTEC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78149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DCFF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Estructura de datos: Tabla Hash Encadenada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343771"/>
            <a:ext cx="10868745" cy="25400"/>
          </a:xfrm>
          <a:prstGeom prst="roundRect">
            <a:avLst>
              <a:gd name="adj" fmla="val 59999"/>
            </a:avLst>
          </a:prstGeom>
          <a:solidFill>
            <a:srgbClr val="E5E0D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3629025"/>
            <a:ext cx="1147833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Integrantes: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4219575"/>
            <a:ext cx="10868745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Pineda Vilca, Hussein Emmanuel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Prado Lozada, Alison Dayana</a:t>
            </a:r>
            <a:endParaRPr lang="en-US" sz="14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5103118"/>
            <a:ext cx="1774582" cy="8007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Arquitectura General del Sistema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3908792"/>
            <a:ext cx="1586822" cy="1528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Usuario accede a los datos organizados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Interfaz Java Swing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Tabla Hash Encadenada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214481"/>
            <a:ext cx="1586822" cy="917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Gestor de archivos en Java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061637"/>
            <a:ext cx="1586822" cy="1222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Datos desde un archivo CSV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</a:t>
            </a:r>
            <a:r>
              <a:rPr lang="en-US" sz="1450" b="1" dirty="0">
                <a:solidFill>
                  <a:srgbClr val="DCFF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Tabla Hash Encadenada</a:t>
            </a: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 el núcleo del sistema. Todos los módulos interactúan con ella para acceder a los investigadores almacenados.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810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Fundamentos de una Tabla Hash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90019"/>
            <a:ext cx="5429015" cy="187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782245"/>
            <a:ext cx="603989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559287" y="1951236"/>
            <a:ext cx="497718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Roboto Mono Bold" pitchFamily="34" charset="0"/>
                <a:ea typeface="Roboto Mono Bold" pitchFamily="34" charset="-122"/>
                <a:cs typeface="Roboto Mono Bold" pitchFamily="34" charset="-120"/>
              </a:rPr>
              <a:t>¿</a:t>
            </a:r>
            <a:r>
              <a:rPr lang="en-US" sz="18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¿Cómo funciona?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559287" y="2435523"/>
            <a:ext cx="4977184" cy="336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• Función Hash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Convierte una clave en un índice del arreglo donde se almacenará el elemento.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• Gestión de Colisiones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dos claves generan el mismo índice, ambas se almacenan utilizando una lista enlazada.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• Acceso a los Datos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buscar o eliminar un elemento, primero se calcula su índice y luego se recorre únicamente la lista enlazada correspondiente.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Fundamentos de una Tabla Hash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2634159"/>
            <a:ext cx="522691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Concepto → Aplicación en nuestro proyecto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309659" y="3318669"/>
            <a:ext cx="5226911" cy="1765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Función Hash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Código RENACYT convertido en índice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Cubetas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20,011 posiciones del arreglo interno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Clave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Código RENACYT del investigador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Valor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Objeto Investigador completo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Complejidad promedio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O(1) para inserción, búsqueda y eliminación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099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Tabla Hash Encadenada: Funcionamiento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9155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Colisiones y Encadenamiento Separado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775843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Dos códigos RENACYT distintos pueden generar el </a:t>
            </a: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mismo índice</a:t>
            </a: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La solución: cada cubeta apunta a una </a:t>
            </a:r>
            <a:r>
              <a:rPr lang="en-US" sz="1450" b="1" dirty="0">
                <a:solidFill>
                  <a:srgbClr val="DCFF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lista enlazada</a:t>
            </a: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550741"/>
            <a:ext cx="5203794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Colisión:</a:t>
            </a: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índices duplicados resueltos con listas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Encadenamiento:</a:t>
            </a: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múltiples claves coexisten en una cubeta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Nodo:</a:t>
            </a: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contiene Investigador + referencia al siguiente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Caso desfavorable:</a:t>
            </a: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O(n) cuando muchas claves colisionan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91" y="2077740"/>
            <a:ext cx="4473364" cy="3104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32776" y="5394523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35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Búsqueda en una Tabla Hash Encadenada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341" y="2132211"/>
            <a:ext cx="9492913" cy="3562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19512" y="4564287"/>
            <a:ext cx="1431809" cy="55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Investigador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9019512" y="5194396"/>
            <a:ext cx="1431809" cy="176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Registro recuperado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215041" y="4564287"/>
            <a:ext cx="1431809" cy="55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Lista enlazada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215041" y="5194396"/>
            <a:ext cx="1431809" cy="176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Manejo de colisiones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20377" y="4702199"/>
            <a:ext cx="1431809" cy="275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Cubeta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20377" y="5056483"/>
            <a:ext cx="1431809" cy="176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Índice del arreglo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25712" y="4564287"/>
            <a:ext cx="1431809" cy="55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Función Hash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625712" y="5194396"/>
            <a:ext cx="1431809" cy="176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indice = hash % 20011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791820" y="4564287"/>
            <a:ext cx="1431809" cy="551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Código RENACYT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791820" y="5194396"/>
            <a:ext cx="1431809" cy="176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Clave de búsqueda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295" y="501650"/>
            <a:ext cx="3428914" cy="58547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588268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Implementación: Clases y Estructura</a:t>
            </a:r>
            <a:endParaRPr lang="en-US" sz="2950" dirty="0"/>
          </a:p>
        </p:txBody>
      </p:sp>
      <p:sp>
        <p:nvSpPr>
          <p:cNvPr id="5" name="Shape 1"/>
          <p:cNvSpPr/>
          <p:nvPr/>
        </p:nvSpPr>
        <p:spPr>
          <a:xfrm>
            <a:off x="661475" y="1714599"/>
            <a:ext cx="6296860" cy="828873"/>
          </a:xfrm>
          <a:prstGeom prst="roundRect">
            <a:avLst>
              <a:gd name="adj" fmla="val 2737"/>
            </a:avLst>
          </a:prstGeom>
          <a:solidFill>
            <a:srgbClr val="404040"/>
          </a:solidFill>
          <a:ln/>
        </p:spPr>
      </p:sp>
      <p:sp>
        <p:nvSpPr>
          <p:cNvPr id="6" name="Text 2"/>
          <p:cNvSpPr/>
          <p:nvPr/>
        </p:nvSpPr>
        <p:spPr>
          <a:xfrm>
            <a:off x="812680" y="1865809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TablaHashEncadenada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812680" y="2174577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Arreglo de 20,011 cubetas. Gestiona inserción, búsqueda, eliminación y recorrido.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61475" y="2664420"/>
            <a:ext cx="6296860" cy="828873"/>
          </a:xfrm>
          <a:prstGeom prst="roundRect">
            <a:avLst>
              <a:gd name="adj" fmla="val 2737"/>
            </a:avLst>
          </a:prstGeom>
          <a:solidFill>
            <a:srgbClr val="404040"/>
          </a:solidFill>
          <a:ln/>
        </p:spPr>
      </p:sp>
      <p:sp>
        <p:nvSpPr>
          <p:cNvPr id="9" name="Text 5"/>
          <p:cNvSpPr/>
          <p:nvPr/>
        </p:nvSpPr>
        <p:spPr>
          <a:xfrm>
            <a:off x="812680" y="2815630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ListaEnlazada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812680" y="3124398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Resuelve colisiones en cada cubeta. Almacena nodos con investigadores.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61475" y="3614241"/>
            <a:ext cx="6296860" cy="828873"/>
          </a:xfrm>
          <a:prstGeom prst="roundRect">
            <a:avLst>
              <a:gd name="adj" fmla="val 2737"/>
            </a:avLst>
          </a:prstGeom>
          <a:solidFill>
            <a:srgbClr val="404040"/>
          </a:solidFill>
          <a:ln/>
        </p:spPr>
      </p:sp>
      <p:sp>
        <p:nvSpPr>
          <p:cNvPr id="12" name="Text 8"/>
          <p:cNvSpPr/>
          <p:nvPr/>
        </p:nvSpPr>
        <p:spPr>
          <a:xfrm>
            <a:off x="812680" y="3765451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Nodo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12680" y="4074220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Contiene el objeto Investigador y referencia al siguiente nodo.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61475" y="4564062"/>
            <a:ext cx="6296860" cy="828873"/>
          </a:xfrm>
          <a:prstGeom prst="roundRect">
            <a:avLst>
              <a:gd name="adj" fmla="val 2737"/>
            </a:avLst>
          </a:prstGeom>
          <a:solidFill>
            <a:srgbClr val="404040"/>
          </a:solidFill>
          <a:ln/>
        </p:spPr>
      </p:sp>
      <p:sp>
        <p:nvSpPr>
          <p:cNvPr id="15" name="Text 11"/>
          <p:cNvSpPr/>
          <p:nvPr/>
        </p:nvSpPr>
        <p:spPr>
          <a:xfrm>
            <a:off x="812680" y="4715272"/>
            <a:ext cx="599444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Visitante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12680" y="5024041"/>
            <a:ext cx="599444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Patrón para recorrer la tabla sin exponer su estructura interna.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61475" y="5528965"/>
            <a:ext cx="6296860" cy="740767"/>
          </a:xfrm>
          <a:prstGeom prst="roundRect">
            <a:avLst>
              <a:gd name="adj" fmla="val 3062"/>
            </a:avLst>
          </a:prstGeom>
          <a:solidFill>
            <a:srgbClr val="66800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680" y="5731669"/>
            <a:ext cx="189007" cy="15120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52893" y="5687715"/>
            <a:ext cx="565423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Clave utilizada:</a:t>
            </a: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Código RENACYT  |  </a:t>
            </a:r>
            <a:r>
              <a:rPr lang="en-US" sz="11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Capacidad:</a:t>
            </a: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20,011 cubetas  |  </a:t>
            </a:r>
            <a:r>
              <a:rPr lang="en-US" sz="11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Resolución de colisiones:</a:t>
            </a: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Encadenamiento separado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065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Implementación: Clases y Estructura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043" y="1243112"/>
            <a:ext cx="8151509" cy="49741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158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Implementación: Clases y Estructura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636" y="1270992"/>
            <a:ext cx="9238424" cy="50227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218" y="1943100"/>
            <a:ext cx="3759106" cy="2971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691878"/>
            <a:ext cx="477289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Operaciones Implementadas</a:t>
            </a:r>
            <a:endParaRPr lang="en-US" sz="3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156645"/>
            <a:ext cx="4772898" cy="200937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906144" y="328830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2"/>
          <p:cNvSpPr/>
          <p:nvPr/>
        </p:nvSpPr>
        <p:spPr>
          <a:xfrm>
            <a:off x="875881" y="3938091"/>
            <a:ext cx="434408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Insertar (put)</a:t>
            </a: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75881" y="4346773"/>
            <a:ext cx="434408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 índice hash y añade nodo a la lista de la cubeta. </a:t>
            </a: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O(1) promedio.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0396" y="2079625"/>
            <a:ext cx="4006750" cy="269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691878"/>
            <a:ext cx="477289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Operaciones Implementadas</a:t>
            </a:r>
            <a:endParaRPr lang="en-US" sz="37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156645"/>
            <a:ext cx="4772898" cy="200937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906144" y="328830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2"/>
          <p:cNvSpPr/>
          <p:nvPr/>
        </p:nvSpPr>
        <p:spPr>
          <a:xfrm>
            <a:off x="875881" y="3938091"/>
            <a:ext cx="434408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Buscar (get)</a:t>
            </a: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75881" y="4346773"/>
            <a:ext cx="434408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Localiza cubeta y recorre lista hasta encontrar el código RENACYT. </a:t>
            </a: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O(1) promedio.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028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Operaciones Implementadas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668959"/>
            <a:ext cx="10868745" cy="17069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4067" y="1800622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2450405"/>
            <a:ext cx="104399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Eliminar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2859088"/>
            <a:ext cx="104399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Remueve nodo específico de la lista enlazada manteniendo integridad. </a:t>
            </a: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O(1) promedio.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3153" y="3710186"/>
            <a:ext cx="7065389" cy="2268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65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Operaciones Implementadas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670645"/>
            <a:ext cx="10868745" cy="17069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4067" y="1802309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75881" y="2452092"/>
            <a:ext cx="104399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Actualizar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75881" y="2860774"/>
            <a:ext cx="104399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Busca el investigador y modifica sus datos sin cambiar su posición en la tabla.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6173" y="3590230"/>
            <a:ext cx="5399250" cy="24711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30416" y="5181639"/>
            <a:ext cx="1013677" cy="78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 mantiene la misma posición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52904" y="5376916"/>
            <a:ext cx="1013677" cy="390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Guardar cambios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982336" y="5376916"/>
            <a:ext cx="1013678" cy="390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Modificar datos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83995" y="5279277"/>
            <a:ext cx="1013677" cy="585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Buscar investigador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96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Módulos del Sistema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08337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408337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Importación CSV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817019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Lectura y carga masiva de investigadores desde archivos CSV a la tabla hash.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3135" y="2408337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2408337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Gestión CRUD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2817019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Crear, leer, actualizar y eliminar investigadores con validaciones.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4794" y="2408337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2408337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Búsquedas y Filtros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2817019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código RENACYT, nombre, centro autorizado, provincia y distrito.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0177" y="410229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Estadísticas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370177" y="4510980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departamento, provincia, distrito, institución y área científica.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63135" y="4102298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1836" y="410229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Exportación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5071836" y="4510980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Resultados exportables a CSV y PDF para reportes e informes.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3830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Módulos del Sistema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196181"/>
            <a:ext cx="330688" cy="330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7849" y="1196181"/>
            <a:ext cx="1042237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Importación CSV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07849" y="1458416"/>
            <a:ext cx="1042237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Lectura y carga masiva de investigadores desde archivos CSV a la tabla hash.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446" y="1742579"/>
            <a:ext cx="7392703" cy="447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719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Módulos del Sistema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142405"/>
            <a:ext cx="330688" cy="330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7849" y="1142405"/>
            <a:ext cx="1042237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Gestión CRUD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07849" y="1404640"/>
            <a:ext cx="1042237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Crear, leer, actualizar y eliminar investigadores con validaciones.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1797" y="1688802"/>
            <a:ext cx="7608102" cy="46254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303"/>
            <a:ext cx="10868745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Módulos del Sistema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106785"/>
            <a:ext cx="325529" cy="325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9118" y="1106785"/>
            <a:ext cx="10431102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Búsquedas y Filtros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099118" y="1364059"/>
            <a:ext cx="10431102" cy="176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código RENACYT, nombre, centro autorizado, provincia y distrito.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1797" y="1640979"/>
            <a:ext cx="7608102" cy="46966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839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Módulos del Sistema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152525"/>
            <a:ext cx="330688" cy="330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7849" y="1152525"/>
            <a:ext cx="1042237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Estadísticas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07849" y="1414760"/>
            <a:ext cx="1042237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departamento, provincia, distrito, institución y área científica.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1797" y="1698923"/>
            <a:ext cx="7608102" cy="46051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608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Módulos del Sistema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184771"/>
            <a:ext cx="330688" cy="330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7849" y="1184771"/>
            <a:ext cx="1042237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Exportación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07849" y="1447006"/>
            <a:ext cx="1042237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Resultados exportables a CSV y PDF para reportes e informes.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1797" y="1731169"/>
            <a:ext cx="7608102" cy="45406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769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Resultados Obtenidos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50827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9,112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71075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Investigadores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119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Cargados desde archivos CSV del registro RENACYT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1850827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43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271075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Centros Autorizados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3119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Instituciones de investigación gestionadas en el sistema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1850827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20,011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271075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Cubetas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3119438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 total del arreglo hash implementado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512255" y="419675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1,879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2512255" y="505668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Colisiones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2512255" y="546536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Resueltas mediante encadenamiento separado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13915" y="419675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45.53%</a:t>
            </a:r>
            <a:endParaRPr lang="en-US" sz="4900" dirty="0"/>
          </a:p>
        </p:txBody>
      </p:sp>
      <p:sp>
        <p:nvSpPr>
          <p:cNvPr id="16" name="Text 14"/>
          <p:cNvSpPr/>
          <p:nvPr/>
        </p:nvSpPr>
        <p:spPr>
          <a:xfrm>
            <a:off x="6213915" y="505668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Factor de Carga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213915" y="5465366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Relación óptima entre investigadores y cubetas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01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Tabla Hash vs. Búsqueda Secuencial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006898"/>
            <a:ext cx="5203794" cy="2199481"/>
          </a:xfrm>
          <a:prstGeom prst="roundRect">
            <a:avLst>
              <a:gd name="adj" fmla="val 1289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475" y="2558355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3106638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654921"/>
            <a:ext cx="5203794" cy="1181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4322" y="2006898"/>
            <a:ext cx="11814" cy="219948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301621" y="2006898"/>
            <a:ext cx="11814" cy="219948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56931" y="2133005"/>
            <a:ext cx="23047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Operación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936504" y="2133005"/>
            <a:ext cx="17825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Tabla Hash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3802" y="2133005"/>
            <a:ext cx="17856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Secuencial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56931" y="2681288"/>
            <a:ext cx="23047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Búsqueda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36504" y="2681288"/>
            <a:ext cx="17825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O(1)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93802" y="2681288"/>
            <a:ext cx="17856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6931" y="3229570"/>
            <a:ext cx="23047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Inserción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936504" y="3229570"/>
            <a:ext cx="17825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O(1)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93802" y="3229570"/>
            <a:ext cx="17856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6931" y="3777853"/>
            <a:ext cx="23047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Eliminación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936504" y="3777853"/>
            <a:ext cx="17825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O(1)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93802" y="3777853"/>
            <a:ext cx="178569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O(n)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332776" y="1983284"/>
            <a:ext cx="520379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Impacto real con 9,112 investigadores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332776" y="2762845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Búsqueda secuencial: hasta </a:t>
            </a: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9,112 comparaciones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Tabla Hash: </a:t>
            </a: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 comparación</a:t>
            </a: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promedio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Factor de carga </a:t>
            </a: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45.53%</a:t>
            </a: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garantiza rendimiento óptimo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1,879 colisiones resueltas sin degradar el sistema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332776" y="4383385"/>
            <a:ext cx="5203794" cy="1341834"/>
          </a:xfrm>
          <a:prstGeom prst="roundRect">
            <a:avLst>
              <a:gd name="adj" fmla="val 2113"/>
            </a:avLst>
          </a:prstGeom>
          <a:solidFill>
            <a:srgbClr val="668000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83" y="4670127"/>
            <a:ext cx="236234" cy="18901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947024" y="4600674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acceso promedio a los datos con la Tabla Hash tiene una complejidad de O(1) vs. el acceso secuencial de complejidad O(n)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634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Ventajas de la solución implementada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518642"/>
            <a:ext cx="10868745" cy="3557191"/>
          </a:xfrm>
          <a:prstGeom prst="roundRect">
            <a:avLst>
              <a:gd name="adj" fmla="val 757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1524992"/>
            <a:ext cx="10856046" cy="4973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2515" y="1633637"/>
            <a:ext cx="567546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Tabla Hash Encadenada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73712" y="1633637"/>
            <a:ext cx="567546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Beneficio obtenido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7825" y="2022376"/>
            <a:ext cx="10856046" cy="4973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2515" y="2131020"/>
            <a:ext cx="567546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Acceso O(1) en promedio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73712" y="2131020"/>
            <a:ext cx="567546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Búsquedas mucho más rápidas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825" y="2519759"/>
            <a:ext cx="10856046" cy="4973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2515" y="2628404"/>
            <a:ext cx="567546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Encadenamiento separado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73712" y="2628404"/>
            <a:ext cx="567546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Manejo eficiente de colisiones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7825" y="3017143"/>
            <a:ext cx="10856046" cy="4973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2515" y="3125788"/>
            <a:ext cx="567546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Persistencia en CSV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73712" y="3125788"/>
            <a:ext cx="567546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requiere base de datos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7825" y="3514527"/>
            <a:ext cx="10856046" cy="7774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2515" y="3623171"/>
            <a:ext cx="567546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Implementación propia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78505" y="3623171"/>
            <a:ext cx="50658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pudo cumplir con el objetivo de aprendizaje para el dominio de la estructura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7825" y="4292005"/>
            <a:ext cx="10856046" cy="7774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2515" y="4400649"/>
            <a:ext cx="567546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78505" y="4400649"/>
            <a:ext cx="50658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Siendo básico, puede manejar más de 9000 entradas de investigadores registrados.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1475" y="5267722"/>
            <a:ext cx="10868745" cy="973931"/>
          </a:xfrm>
          <a:prstGeom prst="roundRect">
            <a:avLst>
              <a:gd name="adj" fmla="val 2766"/>
            </a:avLst>
          </a:prstGeom>
          <a:solidFill>
            <a:srgbClr val="668000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57" y="5519142"/>
            <a:ext cx="224427" cy="179487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44867" y="5483126"/>
            <a:ext cx="10105871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sistema mantiene búsquedas eficientes incluso con miles de registros gracias al uso de una </a:t>
            </a:r>
            <a:r>
              <a:rPr 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Tabla Hash Encadenada </a:t>
            </a: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implementada desde cero.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02755"/>
            <a:ext cx="10868745" cy="177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15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GRACIAS</a:t>
            </a:r>
            <a:endParaRPr lang="en-US" sz="11150" dirty="0"/>
          </a:p>
        </p:txBody>
      </p:sp>
      <p:sp>
        <p:nvSpPr>
          <p:cNvPr id="3" name="Text 1"/>
          <p:cNvSpPr/>
          <p:nvPr/>
        </p:nvSpPr>
        <p:spPr>
          <a:xfrm>
            <a:off x="661475" y="435282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Microsoft Office PowerPoint</Application>
  <PresentationFormat>Panorámica</PresentationFormat>
  <Paragraphs>177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Arial</vt:lpstr>
      <vt:lpstr>Roboto Bold</vt:lpstr>
      <vt:lpstr>Roboto Mono Medium</vt:lpstr>
      <vt:lpstr>Roboto</vt:lpstr>
      <vt:lpstr>Roboto Mono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Emmanuel Pineda</cp:lastModifiedBy>
  <cp:revision>2</cp:revision>
  <dcterms:created xsi:type="dcterms:W3CDTF">2026-07-14T10:49:21Z</dcterms:created>
  <dcterms:modified xsi:type="dcterms:W3CDTF">2026-07-14T10:50:13Z</dcterms:modified>
</cp:coreProperties>
</file>